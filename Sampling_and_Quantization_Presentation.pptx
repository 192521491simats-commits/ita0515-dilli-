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9"/>
  </p:notesMasterIdLst>
  <p:sldIdLst>
    <p:sldId id="268" r:id="rId2"/>
    <p:sldId id="269" r:id="rId14"/>
    <p:sldId id="257" r:id="rId3"/>
    <p:sldId id="258" r:id="rId4"/>
    <p:sldId id="259" r:id="rId5"/>
    <p:sldId id="261" r:id="rId6"/>
    <p:sldId id="260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  <Relationship Id="rId14" Type="http://schemas.openxmlformats.org/officeDocument/2006/relationships/slide" Target="slides/slide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43AF1-8407-4B9D-868B-AF010FBD1DF2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538193-31AE-42C2-BBA9-66531813D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30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96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525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2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02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3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2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52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8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77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8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811E-2F41-4FD5-9738-EDA8C543C22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39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9811E-2F41-4FD5-9738-EDA8C543C22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F5F95-71EE-4A82-B6A3-39229E22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84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942" y="744855"/>
            <a:ext cx="11409553" cy="13463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210203" y="5396917"/>
            <a:ext cx="4653601" cy="11592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Times New Roman"/>
                <a:cs typeface="Times New Roman"/>
              </a:rPr>
              <a:t>BY</a:t>
            </a:r>
            <a:endParaRPr lang="en-US" sz="1800" b="1" spc="-25" dirty="0">
              <a:latin typeface="Times New Roman"/>
              <a:cs typeface="Times New Roman"/>
            </a:endParaRPr>
          </a:p>
          <a:p>
            <a:pPr marL="12065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MOHANARANGAN</a:t>
            </a:r>
            <a:r>
              <a:rPr lang="en-US" sz="1800" b="1" spc="-10" dirty="0">
                <a:latin typeface="Times New Roman"/>
                <a:cs typeface="Times New Roman"/>
              </a:rPr>
              <a:t>.S</a:t>
            </a:r>
            <a:r>
              <a:rPr sz="1800" b="1" spc="-10" dirty="0">
                <a:latin typeface="Times New Roman"/>
                <a:cs typeface="Times New Roman"/>
              </a:rPr>
              <a:t>(192511439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lang="en-US" sz="1800" spc="-10" dirty="0">
              <a:latin typeface="Times New Roman"/>
              <a:cs typeface="Times New Roman"/>
            </a:endParaRPr>
          </a:p>
          <a:p>
            <a:pPr marL="12065" marR="5080" indent="1905" algn="ctr">
              <a:lnSpc>
                <a:spcPct val="100000"/>
              </a:lnSpc>
              <a:spcBef>
                <a:spcPts val="100"/>
              </a:spcBef>
            </a:pPr>
            <a:r>
              <a:rPr lang="en-US" sz="1800" b="1" spc="-10" dirty="0">
                <a:latin typeface="Times New Roman"/>
                <a:cs typeface="Times New Roman"/>
              </a:rPr>
              <a:t>	GOKUL RAJ</a:t>
            </a:r>
            <a:r>
              <a:rPr lang="en-US" b="1" spc="-10" dirty="0"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latin typeface="Times New Roman"/>
                <a:cs typeface="Times New Roman"/>
              </a:rPr>
              <a:t>M (192521494)</a:t>
            </a:r>
            <a:endParaRPr lang="en-US" b="1" spc="-10" dirty="0">
              <a:latin typeface="Times New Roman"/>
              <a:cs typeface="Times New Roman"/>
            </a:endParaRPr>
          </a:p>
          <a:p>
            <a:pPr marL="12065" marR="5080" indent="1905" algn="ctr">
              <a:lnSpc>
                <a:spcPct val="100000"/>
              </a:lnSpc>
              <a:spcBef>
                <a:spcPts val="100"/>
              </a:spcBef>
            </a:pPr>
            <a:r>
              <a:rPr lang="en-US" sz="1800" b="1" spc="-10" dirty="0">
                <a:latin typeface="Times New Roman"/>
                <a:cs typeface="Times New Roman"/>
              </a:rPr>
              <a:t>DILLI BABU N (1</a:t>
            </a:r>
            <a:r>
              <a:rPr lang="en-US" b="1" spc="-10" dirty="0">
                <a:latin typeface="Times New Roman"/>
                <a:cs typeface="Times New Roman"/>
              </a:rPr>
              <a:t>92521491)</a:t>
            </a:r>
            <a:endParaRPr lang="en-US" sz="1800" b="1" spc="-1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9377" y="2806317"/>
            <a:ext cx="945324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 font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 0515 TECHNICAL PRESENTATION</a:t>
            </a:r>
          </a:p>
          <a:p>
            <a:pPr algn="ctr" font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SIGNAL PROCESSING</a:t>
            </a:r>
          </a:p>
          <a:p>
            <a:pPr algn="ctr" fontAlgn="ctr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AND QUANTIZATION: A PROBLEM-DRIVEN EXPLANATION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F1E8F2-2546-0DD8-9697-686E11324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92480" y="5466480"/>
            <a:ext cx="6573520" cy="129333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DR.CARMEL MARY BELINDA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21071-07F4-3AD5-A780-452F5044B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281" y="1429499"/>
            <a:ext cx="9815819" cy="508035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Sampling?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measures the value of a continuous signal at regular time intervals.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rate (fs) is the number of samples taken per second.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Nyquist rule: fs must be at least 2 times the highest signal frequency.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sampling preserves the shape of the original signal. 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Audio Recording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Cameras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Imaging (ECG, MRI)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Systems</a:t>
            </a:r>
          </a:p>
          <a:p>
            <a:endParaRPr lang="en-US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C2175FED-7B73-B7DB-7E87-7C91B5BC78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2" y="-12"/>
            <a:ext cx="1219729" cy="1160848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DB5BCE76-6C1B-72CF-A50C-33AF82A688F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2070" y="-38"/>
            <a:ext cx="1247164" cy="1169715"/>
          </a:xfrm>
          <a:prstGeom prst="rect">
            <a:avLst/>
          </a:prstGeom>
        </p:spPr>
      </p:pic>
      <p:pic>
        <p:nvPicPr>
          <p:cNvPr id="6" name="Picture 5" descr="Sampling a continuous signal - graph">
            <a:extLst>
              <a:ext uri="{FF2B5EF4-FFF2-40B4-BE49-F238E27FC236}">
                <a16:creationId xmlns:a16="http://schemas.microsoft.com/office/drawing/2014/main" id="{499F74F1-01D2-2BA3-A014-3E9A7536B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898" y="3122930"/>
            <a:ext cx="3150641" cy="287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91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C45AA-9EA0-7BE4-642C-8AB457206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733A3-B2A8-3F8C-2961-6964F5C0D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3371" y="870857"/>
            <a:ext cx="13044083" cy="48588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Under-Sampling and Aliasing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What Happens Below the Nyquist Rate?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Under-sampling occurs when fs is too low for the signal's frequency.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Why it Happens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few samples are taken per cycle.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frequencies can produce identical samples.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high-frequency signal is mistaken for a low-frequency one.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Real-World Effects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Jagged, wagon-wheel motion in video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low tones in digital audio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Fix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above the Nyquist rate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an anti-aliasing filter before sampling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67E13163-784D-D2A6-A07C-A1240698C9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2" y="-12"/>
            <a:ext cx="1219729" cy="1160848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6570F0AE-25CA-7519-1FCB-2A92D1672DD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2070" y="-38"/>
            <a:ext cx="1247164" cy="1169715"/>
          </a:xfrm>
          <a:prstGeom prst="rect">
            <a:avLst/>
          </a:prstGeom>
        </p:spPr>
      </p:pic>
      <p:pic>
        <p:nvPicPr>
          <p:cNvPr id="6" name="Picture 5" descr="Under-sampling causes aliasing - graph">
            <a:extLst>
              <a:ext uri="{FF2B5EF4-FFF2-40B4-BE49-F238E27FC236}">
                <a16:creationId xmlns:a16="http://schemas.microsoft.com/office/drawing/2014/main" id="{40F7BCDD-A479-3EC5-B654-58A60CAE5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735" y="3939155"/>
            <a:ext cx="3584625" cy="241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79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7E5B0-C11F-2F05-8DA5-951A61BB6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9E6D7-C10A-0129-F5A1-559231F4E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281" y="1169677"/>
            <a:ext cx="11685765" cy="551054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Quantization?</a:t>
            </a:r>
          </a:p>
          <a:p>
            <a:pPr>
              <a:lnSpc>
                <a:spcPct val="120000"/>
              </a:lnSpc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</a:p>
          <a:p>
            <a:pPr>
              <a:lnSpc>
                <a:spcPct val="120000"/>
              </a:lnSpc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 rounds each sampled amplitude to the nearest fixed level.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>
              <a:lnSpc>
                <a:spcPct val="120000"/>
              </a:lnSpc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levels give finer precision. </a:t>
            </a:r>
          </a:p>
          <a:p>
            <a:pPr>
              <a:lnSpc>
                <a:spcPct val="120000"/>
              </a:lnSpc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Levels are set by bit depth (n bits give 2^n levels). </a:t>
            </a:r>
          </a:p>
          <a:p>
            <a:pPr>
              <a:lnSpc>
                <a:spcPct val="120000"/>
              </a:lnSpc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rounding always introduces a small quantization error.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lnSpc>
                <a:spcPct val="120000"/>
              </a:lnSpc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8-bit audio:</a:t>
            </a:r>
          </a:p>
          <a:p>
            <a:pPr>
              <a:lnSpc>
                <a:spcPct val="120000"/>
              </a:lnSpc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 possible amplitude levels.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16-bit gives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65536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levels — CD quality.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C808C46F-B093-0871-2C1F-2D45F08F4E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2" y="-12"/>
            <a:ext cx="1219729" cy="1160848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D1C51855-ADB6-FB5C-3B3F-252182B90A2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2070" y="-38"/>
            <a:ext cx="1247164" cy="1169715"/>
          </a:xfrm>
          <a:prstGeom prst="rect">
            <a:avLst/>
          </a:prstGeom>
        </p:spPr>
      </p:pic>
      <p:pic>
        <p:nvPicPr>
          <p:cNvPr id="2" name="Picture 1" descr="Quantization: discrete amplitude levels - graph">
            <a:extLst>
              <a:ext uri="{FF2B5EF4-FFF2-40B4-BE49-F238E27FC236}">
                <a16:creationId xmlns:a16="http://schemas.microsoft.com/office/drawing/2014/main" id="{8BBF54BC-EECC-4ADD-76F6-6FF37C048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814" y="4092981"/>
            <a:ext cx="3772586" cy="256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71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19D8C-7FCA-D8F4-F69B-BDFADBC55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51F85-0619-6F2B-D9C4-9E032BB8A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026160"/>
            <a:ext cx="11887200" cy="58318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Over-Quantization Effects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Few Levels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Over-quantization means using too few levels to represent the signal.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Coarse quantization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steps ("banding") appear.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quantization error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detail is permanently lost.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noise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sounds harsh or grainy.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bit depth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dithering to mask banding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levels to the application's needs</a:t>
            </a:r>
          </a:p>
          <a:p>
            <a:endParaRPr lang="en-US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9793F73B-05DD-A54F-F7E2-0E3DDE2DA3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2" y="-12"/>
            <a:ext cx="1219729" cy="1160848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276DA4B5-3108-CF17-4767-FA6BBD5FCD7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2070" y="-38"/>
            <a:ext cx="1247164" cy="1169715"/>
          </a:xfrm>
          <a:prstGeom prst="rect">
            <a:avLst/>
          </a:prstGeom>
        </p:spPr>
      </p:pic>
      <p:pic>
        <p:nvPicPr>
          <p:cNvPr id="2" name="Picture 1" descr="Fine vs coarse quantization comparison - graph">
            <a:extLst>
              <a:ext uri="{FF2B5EF4-FFF2-40B4-BE49-F238E27FC236}">
                <a16:creationId xmlns:a16="http://schemas.microsoft.com/office/drawing/2014/main" id="{A4E8659C-56B9-6569-A8E4-7F79151BE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866" y="3222875"/>
            <a:ext cx="4610786" cy="286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776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75276-40D3-69A3-7CE2-B28E04835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24FA7-6F9E-DE09-1FF5-FC5BA5D33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281" y="995680"/>
            <a:ext cx="11602673" cy="6187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vs. Quantization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Two Independent Trade-offs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steps convert a continuous signal into digital data, but they act on different axes.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Discretizes the time axis; too little causes aliasing.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Discretizes the amplitude axis; too few levels causes banding.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Common Thread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trade signal fidelity for storage and processing efficiency.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rate and levels is a design decision, not a default.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D4D51E1C-2BD8-1E6E-49C2-265A5C91601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2" y="-12"/>
            <a:ext cx="1219729" cy="1160848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B2D7B27F-78E4-FC26-3D93-769EDC058E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2070" y="-38"/>
            <a:ext cx="1247164" cy="116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109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70B86-47BA-E792-E44C-05B6288E6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88467-A3B6-B3B7-30F8-CB7EA574C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287" y="1333850"/>
            <a:ext cx="8906313" cy="55241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Digitizing a signal always requires two steps.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the signal in time.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the signal in amplitude.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Under-sampling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produces aliasing and false frequencies.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Over-quantization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produces banding and lost detail.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sampling rate and bit depth is essential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audio, imaging, and communication systems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51F90375-7557-8301-4172-E7B7801FCAE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2" y="-12"/>
            <a:ext cx="1219729" cy="1160848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B5E1843C-B666-64C1-D3EB-45397F7A07F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2070" y="-38"/>
            <a:ext cx="1247164" cy="116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36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3281" y="995680"/>
            <a:ext cx="11602673" cy="6187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Why Can't Computers Use Real-World Signals Directly?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signals (sound, light, temperature) are continuous in both time and amplitude.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can only store and process finite, discrete numbers.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continuous signal has infinite points in time and infinite possible values.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Two-Step Solution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discretize the time axis.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discretize the amplitude axis.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either step wrong, and the digital copy no longer represents the original signal faithfully.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2" y="-12"/>
            <a:ext cx="1219729" cy="1160848"/>
          </a:xfrm>
          <a:prstGeom prst="rect">
            <a:avLst/>
          </a:prstGeom>
        </p:spPr>
      </p:pic>
      <p:pic>
        <p:nvPicPr>
          <p:cNvPr id="6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2070" y="-38"/>
            <a:ext cx="1247164" cy="11697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107</TotalTime>
  <Words>339</Words>
  <Application>Microsoft Office PowerPoint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rangan</dc:creator>
  <cp:lastModifiedBy>mohan rangan</cp:lastModifiedBy>
  <cp:revision>5</cp:revision>
  <dcterms:created xsi:type="dcterms:W3CDTF">2026-07-22T17:58:49Z</dcterms:created>
  <dcterms:modified xsi:type="dcterms:W3CDTF">2026-07-27T05:23:19Z</dcterms:modified>
</cp:coreProperties>
</file>